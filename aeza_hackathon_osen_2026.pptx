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Вклад (вес × значение)</c:v>
                </c:pt>
              </c:strCache>
            </c:strRef>
          </c:tx>
          <c:spPr>
            <a:solidFill>
              <a:srgbClr val="FF6B00"/>
            </a:solidFill>
          </c:spPr>
          <c:cat>
            <c:strRef>
              <c:f>Sheet1!$A$2:$A$6</c:f>
              <c:strCache>
                <c:ptCount val="5"/>
                <c:pt idx="0">
                  <c:v>Близость даты окончания · 3,0</c:v>
                </c:pt>
                <c:pt idx="1">
                  <c:v>Автопродление отключено · 2,0</c:v>
                </c:pt>
                <c:pt idx="2">
                  <c:v>Недостаточно средств для продления · 2,0</c:v>
                </c:pt>
                <c:pt idx="3">
                  <c:v>Ожидание продления · 2,5</c:v>
                </c:pt>
                <c:pt idx="4">
                  <c:v>Услуга приостановлена · 1,0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2.0</c:v>
                </c:pt>
                <c:pt idx="2">
                  <c:v>0.0</c:v>
                </c:pt>
                <c:pt idx="3">
                  <c:v>2.5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Manrop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950"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(15 сек):</a:t>
            </a:r>
          </a:p>
          <a:p>
            <a:r>
              <a:t>«У Aéza есть снимок клиентской базы. Мы задали один вопрос: как найти клиента,</a:t>
            </a:r>
          </a:p>
          <a:p>
            <a:r>
              <a:t>который может уйти, понять почему и оценить деньги, пока он ещё не ушёл.</a:t>
            </a:r>
          </a:p>
          <a:p>
            <a:r>
              <a:t>Вот что получилось.»</a:t>
            </a:r>
          </a:p>
          <a:p/>
          <a:p>
            <a:r>
              <a:t>Не начинайте с определения оттока и не читайте подзаголовок вслух — он на экране.</a:t>
            </a:r>
          </a:p>
          <a:p>
            <a:r>
              <a:t>ПЕРЕД ЗАЩИТОЙ: вписать название команды и участников, поставить реальные QR</a:t>
            </a:r>
          </a:p>
          <a:p>
            <a:r>
              <a:t>на демо-стенд и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«По 30 услугам снимка: 12 — близость даты окончания, 9 — автопродление отключено, 6 — услуга приостановлена, 6 — ожидание продления. Каждый сигнал по отдельности</a:t>
            </a:r>
          </a:p>
          <a:p>
            <a:r>
              <a:t>выглядит безобидно. Вместе они описывают клиента, который может уйти.</a:t>
            </a:r>
          </a:p>
          <a:p>
            <a:r>
              <a:t>Проблема в том, что в общем списке этого не видно: нет ни приоритета, ни объяснения.</a:t>
            </a:r>
          </a:p>
          <a:p>
            <a:r>
              <a:t>Отсюда — поздняя реакция.»</a:t>
            </a:r>
          </a:p>
          <a:p/>
          <a:p>
            <a:r>
              <a:t>Показать: три блока схемы, затем цифры нижней полосы.</a:t>
            </a:r>
          </a:p>
          <a:p>
            <a:r>
              <a:t>Возможный вопрос: «Это статистика реальной базы Aéza?» — Нет. Это подсчёт по</a:t>
            </a:r>
          </a:p>
          <a:p>
            <a:r>
              <a:t>синтетическому снимку из комплекта кейса. Мы не приписываем эти числа реальным</a:t>
            </a:r>
          </a:p>
          <a:p>
            <a:r>
              <a:t>клиентам Aéza.</a:t>
            </a:r>
          </a:p>
          <a:p>
            <a:r>
              <a:t>Переход: «Поэтому мы собрали инструмент, который делает это за аналитика.»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сек):</a:t>
            </a:r>
          </a:p>
          <a:p>
            <a:r>
              <a:t>«Продукт делает четыре вещи: находит клиентов под риском и сортирует их,</a:t>
            </a:r>
          </a:p>
          <a:p>
            <a:r>
              <a:t>показывает балл риска, объясняет оценку конкретными сигналами и позволяет</a:t>
            </a:r>
          </a:p>
          <a:p>
            <a:r>
              <a:t>менять веса модели. Всё это — реальный интерфейс запущенного приложения, а не макет.»</a:t>
            </a:r>
          </a:p>
          <a:p/>
          <a:p>
            <a:r>
              <a:t>Показать: маркеры 1–4 сверху, затем слева таблицу клиентов (обратите внимание на</a:t>
            </a:r>
          </a:p>
          <a:p>
            <a:r>
              <a:t>строку user-0010@example.test — балл 71,4, наверху списка вместе</a:t>
            </a:r>
          </a:p>
          <a:p>
            <a:r>
              <a:t>с #5), справа сводные метрики и блок «Основные причины риска».</a:t>
            </a:r>
          </a:p>
          <a:p>
            <a:r>
              <a:t>Возможный вопрос: «Это прототип на макете?» — Нет. Приложение запущено:</a:t>
            </a:r>
          </a:p>
          <a:p>
            <a:r>
              <a:t>FastAPI + Postgres + React, работает на снимке из комплекта кейса.</a:t>
            </a:r>
          </a:p>
          <a:p>
            <a:r>
              <a:t>Переход: «Пройдём этот путь на конкретном клиенте.»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«Открываем список клиентов — он отсортирован по риску по убыванию. Наверху двое</a:t>
            </a:r>
          </a:p>
          <a:p>
            <a:r>
              <a:t>с одинаковым максимумом 71,4: клиенты #5 и #10. Берём #10 — у него причину видно</a:t>
            </a:r>
          </a:p>
          <a:p>
            <a:r>
              <a:t>на уровне услуги, и это делает разбор конкретным.</a:t>
            </a:r>
          </a:p>
          <a:p>
            <a:r>
              <a:t>Что мы про него знаем из данных: три услуги, все пригодны для прогноза, из них две</a:t>
            </a:r>
          </a:p>
          <a:p>
            <a:r>
              <a:t>высокого риска; баланс 203,79 €, всего пополнено 4 206,69 €.</a:t>
            </a:r>
          </a:p>
          <a:p>
            <a:r>
              <a:t>Выручка под риском — ноль, и это отдельный важный момент, к нему вернёмся на слайде</a:t>
            </a:r>
          </a:p>
          <a:p>
            <a:r>
              <a:t>про деньги.</a:t>
            </a:r>
          </a:p>
          <a:p>
            <a:r>
              <a:t>Причины: услуга просрочена на 35 дней, два продления из двух не выполнены,</a:t>
            </a:r>
          </a:p>
          <a:p>
            <a:r>
              <a:t>автопродление выключено.»</a:t>
            </a:r>
          </a:p>
          <a:p/>
          <a:p>
            <a:r>
              <a:t>Показать: /customers → клик по #10 → шапка, метрики, блок «Причины оценки».</a:t>
            </a:r>
          </a:p>
          <a:p>
            <a:r>
              <a:t>Возможный вопрос: «Почему балл клиента 71,4, а не среднее по услугам?» —</a:t>
            </a:r>
          </a:p>
          <a:p>
            <a:r>
              <a:t>Правило продукта: балл клиента — максимум по услугам, пригодным для прогноза.</a:t>
            </a:r>
          </a:p>
          <a:p>
            <a:r>
              <a:t>Среднее замаскировало бы одну критичную услугу.</a:t>
            </a:r>
          </a:p>
          <a:p>
            <a:r>
              <a:t>Возможный вопрос: «Почему не #5?» — У него тот же балл 71,4, но услуги иные;</a:t>
            </a:r>
          </a:p>
          <a:p>
            <a:r>
              <a:t>для разбора причины #10 нагляднее, и он остаётся вторым в списке.</a:t>
            </a:r>
          </a:p>
          <a:p>
            <a:r>
              <a:t>Переход: «Разберём, из чего складывается этот балл.»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(50 сек):</a:t>
            </a:r>
          </a:p>
          <a:p>
            <a:r>
              <a:t>«Балл — это не «алгоритм решил». Формула простая и проверяемая: сто умножить на</a:t>
            </a:r>
          </a:p>
          <a:p>
            <a:r>
              <a:t>сумму вес×значение, делить на сумму весов. По этой услуге сумма вкладов</a:t>
            </a:r>
          </a:p>
          <a:p>
            <a:r>
              <a:t>7,5 из 10,5 — отсюда 71,4.</a:t>
            </a:r>
          </a:p>
          <a:p>
            <a:r>
              <a:t>Крупнейшие вклады: близость даты окончания — 3.0,</a:t>
            </a:r>
          </a:p>
          <a:p>
            <a:r>
              <a:t>ожидание продления — 2.5,</a:t>
            </a:r>
          </a:p>
          <a:p>
            <a:r>
              <a:t>автопродление отключено — 2.0.</a:t>
            </a:r>
          </a:p>
          <a:p>
            <a:r>
              <a:t>Два фактора дали ноль: баланса хватает на продление, услуга не приостановлена.</a:t>
            </a:r>
          </a:p>
          <a:p>
            <a:r>
              <a:t>Это тоже важно: модель не накручивает риск там, где сигналов нет.»</a:t>
            </a:r>
          </a:p>
          <a:p/>
          <a:p>
            <a:r>
              <a:t>Показать: диаграмму вкладов, затем правые карточки «наблюдение → интерпретация →</a:t>
            </a:r>
          </a:p>
          <a:p>
            <a:r>
              <a:t>влияние». В интерфейсе — кнопку «Показать все факторы (7)».</a:t>
            </a:r>
          </a:p>
          <a:p>
            <a:r>
              <a:t>Возможный вопрос: «Это машинное обучение?» — Нет, и мы это не скрываем.</a:t>
            </a:r>
          </a:p>
          <a:p>
            <a:r>
              <a:t>В снимке нет исторических исходов: обучать и валидировать классификатор не на чем.</a:t>
            </a:r>
          </a:p>
          <a:p>
            <a:r>
              <a:t>Модуль спроектирован под замену на калиброванную модель без смены API.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(40 сек):</a:t>
            </a:r>
          </a:p>
          <a:p>
            <a:r>
              <a:t>«Это не витрина «у нас есть AI». Модель не считает балл — она объясняет уже</a:t>
            </a:r>
          </a:p>
          <a:p>
            <a:r>
              <a:t>посчитанный результат. В контекст она получает только факты движка и локальную</a:t>
            </a:r>
          </a:p>
          <a:p>
            <a:r>
              <a:t>документацию; под ответом видно, на какие данные и документы она ссылалась.</a:t>
            </a:r>
          </a:p>
          <a:p>
            <a:r>
              <a:t>И главное: если модель называет число, которого нет в фактах, оно удаляется</a:t>
            </a:r>
          </a:p>
          <a:p>
            <a:r>
              <a:t>автоматически. Это второй слой защиты от выдумок.»</a:t>
            </a:r>
          </a:p>
          <a:p>
            <a:r>
              <a:t>Показать: реальный ответ справа от скриншота, блок «ИСТОЧНИКИ» под ответом,</a:t>
            </a:r>
          </a:p>
          <a:p>
            <a:r>
              <a:t>затем четыре карточки — особенно «Проверка после генерации» и «Аналитика без AI».</a:t>
            </a:r>
          </a:p>
          <a:p>
            <a:r>
              <a:t>Возможный вопрос: «Данные уходят наружу?» — Нет. Провайдер только loopback,</a:t>
            </a:r>
          </a:p>
          <a:p>
            <a:r>
              <a:t>внешние AI-API не используются; персональные данные не пишутся в логи.</a:t>
            </a:r>
          </a:p>
          <a:p>
            <a:r>
              <a:t>Возможный вопрос: «Что если модель недоступна?» — 503 и понятный текст,</a:t>
            </a:r>
          </a:p>
          <a:p>
            <a:r>
              <a:t>основная аналитика продолжает работать.</a:t>
            </a:r>
          </a:p>
          <a:p>
            <a:r>
              <a:t>Ограничение: ответ занимает ≈40–90 с на CPU — это для интерактивного</a:t>
            </a:r>
          </a:p>
          <a:p>
            <a:r>
              <a:t>разбора, а не для потока.</a:t>
            </a:r>
          </a:p>
          <a:p>
            <a:r>
              <a:t>Переход: «Теперь деньги — отдельно от риска.»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(45 сек):</a:t>
            </a:r>
          </a:p>
          <a:p>
            <a:r>
              <a:t>«Здесь важно не сложить несопоставимое. У клиента #10 балл высокий — 71,4,</a:t>
            </a:r>
          </a:p>
          <a:p>
            <a:r>
              <a:t>но выручка под риском ноль. Почему? Все его сроки уже прошли: просроченные</a:t>
            </a:r>
          </a:p>
          <a:p>
            <a:r>
              <a:t>продления лежат в прошлом, а горизонт смотрит вперёд. Услуг с продлением</a:t>
            </a:r>
          </a:p>
          <a:p>
            <a:r>
              <a:t>внутри 30 дней у него нет.</a:t>
            </a:r>
          </a:p>
          <a:p>
            <a:r>
              <a:t>Баланс 203,79 € и пополнения 4 206,69 € — это не потерянные деньги. Мы держим</a:t>
            </a:r>
          </a:p>
          <a:p>
            <a:r>
              <a:t>три величины раздельно: выручка под риском — прогноз, предстоящие продления —</a:t>
            </a:r>
          </a:p>
          <a:p>
            <a:r>
              <a:t>сумма без риска, пополнения — справочная история.»</a:t>
            </a:r>
          </a:p>
          <a:p/>
          <a:p>
            <a:r>
              <a:t>Показать: формулу, затем таблицу «Ближайшие продления в горизонте» — 4 строки,</a:t>
            </a:r>
          </a:p>
          <a:p>
            <a:r>
              <a:t>и три итоговые метрики внизу.</a:t>
            </a:r>
          </a:p>
          <a:p>
            <a:r>
              <a:t>Возможный вопрос: «Почему сумма такая маленькая?» — Потому что горизонт 30 дней,</a:t>
            </a:r>
          </a:p>
          <a:p>
            <a:r>
              <a:t>и в него попадают 4 продления из 30 услуг. Это честная оценка по доступным полям,</a:t>
            </a:r>
          </a:p>
          <a:p>
            <a:r>
              <a:t>а не бухгалтерский прогноз: календаря будущих списаний в снимке нет.</a:t>
            </a:r>
          </a:p>
          <a:p>
            <a:r>
              <a:t>Переход: «Теперь проверим гипотезу: изменим вес фактора.»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(60 сек):</a:t>
            </a:r>
          </a:p>
          <a:p>
            <a:r>
              <a:t>«Сначала формулируем ожидание: усилим фактор «близость даты окончания» с трёх</a:t>
            </a:r>
          </a:p>
          <a:p>
            <a:r>
              <a:t>до девяти. Гипотеза — баллы вырастут, услуг высокого риска станет больше.</a:t>
            </a:r>
          </a:p>
          <a:p>
            <a:r>
              <a:t>Идём в настройки модели, меняем вес, нажимаем «Сохранить».</a:t>
            </a:r>
          </a:p>
          <a:p>
            <a:r>
              <a:t>Смотрите, что произошло. Балл клиента #10: 71,4 → 81,8. Услуг высокого риска:</a:t>
            </a:r>
          </a:p>
          <a:p>
            <a:r>
              <a:t>4 → 7, а выручка под риском: 5,80 → 7,72 €.</a:t>
            </a:r>
          </a:p>
          <a:p>
            <a:r>
              <a:t>Это не декоративный контрол: настройка уходит на сервер, сохраняется в базе и</a:t>
            </a:r>
          </a:p>
          <a:p>
            <a:r>
              <a:t>пересчитывает всю аналитику. Кнопка «Значения по умолчанию» возвращает исходные числа.»</a:t>
            </a:r>
          </a:p>
          <a:p/>
          <a:p>
            <a:r>
              <a:t>Показать: /settings → поле веса expiry_proximity 3 → 9 → «Сохранить». Сводка в шапке</a:t>
            </a:r>
          </a:p>
          <a:p>
            <a:r>
              <a:t>обновляется на месте, без перезагрузки: выручка 5,80 → 7,72 €,</a:t>
            </a:r>
          </a:p>
          <a:p>
            <a:r>
              <a:t>услуг высокого риска 4 → 7, сумма весов 13.0 → 19.0. Затем открыть карточку клиента #10 (балл 81,8) и вернуться</a:t>
            </a:r>
          </a:p>
          <a:p>
            <a:r>
              <a:t>в настройки, нажав «Значения по умолчанию».</a:t>
            </a:r>
          </a:p>
          <a:p>
            <a:r>
              <a:t>Возможный вопрос: «Почему клиентов высокого риска не стало больше?» — Категория</a:t>
            </a:r>
          </a:p>
          <a:p>
            <a:r>
              <a:t>клиента берёт максимум по его услугам: у трёх клиентов уже был высокий балл, у</a:t>
            </a:r>
          </a:p>
          <a:p>
            <a:r>
              <a:t>остальных даже усиленный вес не поднял его выше порога. Поэтому честный сигнал</a:t>
            </a:r>
          </a:p>
          <a:p>
            <a:r>
              <a:t>изменения — число услуг высокого риска и выручка под риском.</a:t>
            </a:r>
          </a:p>
          <a:p>
            <a:r>
              <a:t>Возможный вопрос: «Пересчёт автоматический?» — Да. Настройки сохраняются на сервере,</a:t>
            </a:r>
          </a:p>
          <a:p>
            <a:r>
              <a:t>бэкенд пересчитывает всю аналитику, и интерфейс подтягивает новые значения сразу,</a:t>
            </a:r>
          </a:p>
          <a:p>
            <a:r>
              <a:t>без ручной перезагрузки. Проверено на стенде: страница настроек остаётся открытой,</a:t>
            </a:r>
          </a:p>
          <a:p>
            <a:r>
              <a:t>URL не меняется, числа в сводке обновляются сами.</a:t>
            </a:r>
          </a:p>
          <a:p>
            <a:r>
              <a:t>Переход: «Что это даёт команде Aéza.»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(35 сек):</a:t>
            </a:r>
          </a:p>
          <a:p>
            <a:r>
              <a:t>«Что получает аналитик Aéza: приоритизированный список вместо ручного просмотра,</a:t>
            </a:r>
          </a:p>
          <a:p>
            <a:r>
              <a:t>объяснение вместо непрозрачного числа, денежную оценку отдельно от баланса и</a:t>
            </a:r>
          </a:p>
          <a:p>
            <a:r>
              <a:t>возможность проверить гипотезу, поменяв веса.</a:t>
            </a:r>
          </a:p>
          <a:p>
            <a:r>
              <a:t>И сразу честно про границы: балл — не вероятность в процентах, точность мы не</a:t>
            </a:r>
          </a:p>
          <a:p>
            <a:r>
              <a:t>измеряли, потому что в снимке нет истории уходов. Мы не обещаем снижение оттока —</a:t>
            </a:r>
          </a:p>
          <a:p>
            <a:r>
              <a:t>мы даём инструмент для решения.»</a:t>
            </a:r>
          </a:p>
          <a:p/>
          <a:p>
            <a:r>
              <a:t>Показать: четыре карточки, затем нижний блок ограничений — его проговариваем</a:t>
            </a:r>
          </a:p>
          <a:p>
            <a:r>
              <a:t>обязательно, это сильный ход перед бизнес-заказчиком.</a:t>
            </a:r>
          </a:p>
          <a:p>
            <a:r>
              <a:t>Возможный вопрос: «Какая точность модели?» — Не измерена и не заявлена. В данных</a:t>
            </a:r>
          </a:p>
          <a:p>
            <a:r>
              <a:t>нет исходов оттока, обучать и валидировать классификатор не на чем.</a:t>
            </a:r>
          </a:p>
          <a:p>
            <a:r>
              <a:t>Переход: «Коротко про то, как это устроено внутри.»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(30 сек, при технически подкованном заказчике):</a:t>
            </a:r>
          </a:p>
          <a:p>
            <a:r>
              <a:t>«Путь данных короткий: снимок Aéza проходит валидацию целиком до записи и</a:t>
            </a:r>
          </a:p>
          <a:p>
            <a:r>
              <a:t>применяется атомарно, скоринг живёт в одном модуле, результат уходит в API и в панель.</a:t>
            </a:r>
          </a:p>
          <a:p>
            <a:r>
              <a:t>Отдельно про пропуски: отсутствующий сигнал не превращается в ноль и не понижает</a:t>
            </a:r>
          </a:p>
          <a:p>
            <a:r>
              <a:t>риск — фактор просто исключается, а веса перенормируются.</a:t>
            </a:r>
          </a:p>
          <a:p>
            <a:r>
              <a:t>И про границы: истории уходов нет, календаря списаний нет, динамики нет, нагрузку</a:t>
            </a:r>
          </a:p>
          <a:p>
            <a:r>
              <a:t>на больших объёмах мы не измеряли.»</a:t>
            </a:r>
          </a:p>
          <a:p/>
          <a:p>
            <a:r>
              <a:t>Показать: цепочку, затем два блока ограничений. Не читать всё вслух — выбрать 2–3 пункта.</a:t>
            </a:r>
          </a:p>
          <a:p>
            <a:r>
              <a:t>Возможный вопрос: «Что будет на 10 000 клиентов?» — Список пагинируется, фильтры и</a:t>
            </a:r>
          </a:p>
          <a:p>
            <a:r>
              <a:t>сортировка выполняются в SQL, а не в браузере. Нагрузочного тестирования не проводили —</a:t>
            </a:r>
          </a:p>
          <a:p>
            <a:r>
              <a:t>говорим честно.</a:t>
            </a:r>
          </a:p>
          <a:p>
            <a:r>
              <a:t>Переход: «Финальный слайд.»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сказать (20 сек):</a:t>
            </a:r>
          </a:p>
          <a:p>
            <a:r>
              <a:t>«Мы не обещаем автоматического удержания. Мы даём команде возможность увидеть риск</a:t>
            </a:r>
          </a:p>
          <a:p>
            <a:r>
              <a:t>раньше и действовать до того, как клиент уйдёт.</a:t>
            </a:r>
          </a:p>
          <a:p>
            <a:r>
              <a:t>Предлагаем следующий шаг: вместе проверить модель на данных Aéza и понять, какие</a:t>
            </a:r>
          </a:p>
          <a:p>
            <a:r>
              <a:t>сигналы действительно полезны вашей команде удержания. Спасибо.»</a:t>
            </a:r>
          </a:p>
          <a:p/>
          <a:p>
            <a:r>
              <a:t>ПЕРЕД ЗАЩИТОЙ: подставить название команды, имена и роли, контакт; заменить два</a:t>
            </a:r>
          </a:p>
          <a:p>
            <a:r>
              <a:t>QR-блока-заглушки (демо и контакты) на реальные ссылки. QR GitHub уже настоящий:</a:t>
            </a:r>
          </a:p>
          <a:p>
            <a:r>
              <a:t>он закодирован из адреса публичного репозитория и проверен декодированием,</a:t>
            </a:r>
          </a:p>
          <a:p>
            <a:r>
              <a:t>заменяйте только если репозиторий переедет.</a:t>
            </a:r>
          </a:p>
          <a:p>
            <a:r>
              <a:t>Возможный вопрос: «Что дальше по продукту?» — Когда появятся исторические исходы,</a:t>
            </a:r>
          </a:p>
          <a:p>
            <a:r>
              <a:t>логистическая регрессия на тех же признаках заменит формулу без изменения контракта</a:t>
            </a:r>
          </a:p>
          <a:p>
            <a:r>
              <a:t>API и интерфейса.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45575" y="0"/>
            <a:ext cx="3246120" cy="685800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45575" y="0"/>
            <a:ext cx="41148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280160" cy="305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060704"/>
            <a:ext cx="7498079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ХАКАТОН ОСЕНЬ 2026 · ДГТУ · РОСТОВ-НА-ДОНУ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0784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Увидеть риск оттока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2736"/>
            <a:ext cx="7863840" cy="57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6B00"/>
                </a:solidFill>
                <a:latin typeface="Manrope"/>
                <a:cs typeface="Manrope"/>
                <a:ea typeface="Manrope"/>
              </a:rPr>
              <a:t>раньше, чем клиент уйдёт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822191"/>
            <a:ext cx="7223760" cy="284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Aéza Analyzer — аналитика риска оттока клиентов хостинг-провайдера.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882896"/>
            <a:ext cx="722376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065776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50992"/>
            <a:ext cx="4937760" cy="191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[ИМЯ УЧАСТНИКА 1] · [ИМЯ УЧАСТНИКА 2] · [ИМЯ УЧАСТНИКА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512064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ЗАПОЛНИТЬ ПЕРЕД ЗАЩИТОЙ · команда и QR-ссылки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4527" y="1883664"/>
            <a:ext cx="1737360" cy="15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 ДЛЯ ЖЮРИ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04527" y="2231136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3087" y="371246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04527" y="404164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3087" y="5522976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[QR-КОД: GITHUB]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БИЗНЕС-ПРОБЛЕМА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Сигналы разрознены — риск остаётся незаметным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7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продолжает пользоваться услугой, но отдельные признаки уже говорят о риске. По одному статусу и общей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выручке этого не увидеть.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Разрозненные сигналы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Дата окончания, автопродление, неуспешные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продления, статус услуги — каждое поле живёт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отдельно.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0766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4794" y="2091944"/>
            <a:ext cx="3442106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818" y="235712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 остаётся незаметным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 общем списке клиентов нет приоритета: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проблемный аккаунт выглядит так же, как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здоровый.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7192" y="2823464"/>
            <a:ext cx="173736" cy="237744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1220" y="2091944"/>
            <a:ext cx="3442106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091944"/>
            <a:ext cx="3442106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83244" y="2357120"/>
            <a:ext cx="274320" cy="274320"/>
          </a:xfrm>
          <a:prstGeom prst="ellipse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2388" y="2750312"/>
            <a:ext cx="3039770" cy="224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Поздняя реакция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2388" y="3038856"/>
            <a:ext cx="3039770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Разбираются, когда услуга уже истекла. Причины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 собраны в одном месте, поэтому действовать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заранее не с чем.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21912"/>
            <a:ext cx="10874959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59656"/>
            <a:ext cx="2834640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Сигналы риска в снимке Aéza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52264"/>
            <a:ext cx="2834640" cy="4888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Прямой подсчёт по 30 услугам датасета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организатора; одна услуга может попасть в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несколько категорий.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6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близость даты окончания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2431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4727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4727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автопродление отключено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98662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8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58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приостановлена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3" y="4432808"/>
            <a:ext cx="9525" cy="896112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89" y="4432808"/>
            <a:ext cx="1636775" cy="335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89" y="4821047"/>
            <a:ext cx="1636775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ожидание продления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Источник: Aéza Analyzer, блок «Основные причины риска», опорный момент 2026-10-19 15:00 UTC. Набор кейса синтетический.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Один экран: приоритет, причина,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Aéza Analyzer ранжирует клиентов по риску, объясняет каждую оценку наблюдаемыми сигналами и считает выручку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 риском отдельно от баланса.</a:t>
            </a:r>
          </a:p>
        </p:txBody>
      </p:sp>
      <p:sp>
        <p:nvSpPr>
          <p:cNvPr id="6" name="Oval 5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Список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2334691" cy="295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сортировка по риску, фильтр по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категории</a:t>
            </a:r>
          </a:p>
        </p:txBody>
      </p:sp>
      <p:sp>
        <p:nvSpPr>
          <p:cNvPr id="9" name="Oval 8"/>
          <p:cNvSpPr/>
          <p:nvPr/>
        </p:nvSpPr>
        <p:spPr>
          <a:xfrm>
            <a:off x="3386251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6291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Балл риска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6291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0–100 и категория в карточке клиента</a:t>
            </a:r>
          </a:p>
        </p:txBody>
      </p:sp>
      <p:sp>
        <p:nvSpPr>
          <p:cNvPr id="12" name="Oval 11"/>
          <p:cNvSpPr/>
          <p:nvPr/>
        </p:nvSpPr>
        <p:spPr>
          <a:xfrm>
            <a:off x="6104990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0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Причины 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0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фактор с числом и вкладом</a:t>
            </a:r>
          </a:p>
        </p:txBody>
      </p:sp>
      <p:sp>
        <p:nvSpPr>
          <p:cNvPr id="15" name="Oval 14"/>
          <p:cNvSpPr/>
          <p:nvPr/>
        </p:nvSpPr>
        <p:spPr>
          <a:xfrm>
            <a:off x="8823729" y="2084832"/>
            <a:ext cx="274320" cy="274320"/>
          </a:xfrm>
          <a:prstGeom prst="ellips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69" y="2057400"/>
            <a:ext cx="2334691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Настройки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69" y="2258568"/>
            <a:ext cx="2334691" cy="157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· /settings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07208"/>
            <a:ext cx="649224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СПИСОК КЛИЕНТОВ ПО РИСКУ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" y="3012948"/>
            <a:ext cx="6556248" cy="241805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ust_tabl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44952"/>
            <a:ext cx="5537588" cy="23540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" y="5508731"/>
            <a:ext cx="649224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Все 10 клиентов снимка отсортированы по риску: балл, уровень и выручка под риском в одной строке.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807208"/>
            <a:ext cx="4108399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ПО БАЗЕ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2924" y="3012948"/>
            <a:ext cx="4172407" cy="134623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_dash_metric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044952"/>
            <a:ext cx="4108399" cy="45806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392924" y="4496347"/>
            <a:ext cx="4172407" cy="129772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_dash_rea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4528351"/>
            <a:ext cx="4108399" cy="9815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24928" y="5871795"/>
            <a:ext cx="4108399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Сводка — по всем клиентам; причины риска — прямой подсчёт по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Клиент #10 — высокий риск, 71,4 из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Максимум по базе: 71,4 — вместе с клиентом #5. Показан второй в списке и выбран потому, что его причину видно на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уровне услуги. Слева — реальные поля снимка, справа — тот же клиент в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3840480" cy="397764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3364992" cy="2392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user-0010@example.test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9464"/>
            <a:ext cx="3364992" cy="16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Клиент #10 · 3 услуги, все 3 пригодны для прогноза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62072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ВЫСОКИЙ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55848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11296"/>
            <a:ext cx="3364992" cy="213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844036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Категория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99484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Высокий (порог ≥ 65)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304284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59732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 из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64532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919980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0,00 € — сроки уже прошли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224780"/>
            <a:ext cx="3364992" cy="138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/ всего пополнено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80228"/>
            <a:ext cx="3364992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anrope Medium"/>
                <a:cs typeface="Manrope Medium"/>
                <a:ea typeface="Manrope Medium"/>
              </a:rPr>
              <a:t>203,79 € / 4 206,69 €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048256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КАРТОЧКА КЛИЕНТА #10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9452" y="2263140"/>
            <a:ext cx="6805879" cy="410011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10_page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95144"/>
            <a:ext cx="6405491" cy="34600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759452" y="2718871"/>
            <a:ext cx="3361791" cy="1197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_c10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14" y="2750875"/>
            <a:ext cx="2455267" cy="113385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203539" y="2718871"/>
            <a:ext cx="3361791" cy="119786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_c10_r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01" y="2750875"/>
            <a:ext cx="2455267" cy="11338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91456" y="4067611"/>
            <a:ext cx="674187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ПРИЧИНЫ ОЦЕНКИ ПО УСЛУГЕ service-0030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9452" y="4282495"/>
            <a:ext cx="6805879" cy="151377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_c10_reas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314499"/>
            <a:ext cx="6739146" cy="14497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456" y="5873998"/>
            <a:ext cx="67418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Почему именно этот клиент: один из двух максимумов (71,4), и его причину видно на уровне услуги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service-0030 просрочена на 35 дней, 2 из 2 продлений не выполнены, автопродление отключено.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Опорный момент 2026-10-19 15:00 UTC. Данные: dataset/data.json (10 аккаунтов / 30 услуг / 100 транзакций). Балл риска — не вероятность оттока.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ПОЧЕМУ МОДЕЛЬ СЧИТАЕТ КЛИЕНТА РИСКОВАННЫМ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Балл объясним: видно каждый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Формула: 100 × Σ(вес × значение) / Σвес. По service-0030 балл 71,4 при действующей сумме весов 10,5 (фактор без данных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исключён из знаменателя). Ниже — фактические вклады из интерфейса.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9432"/>
            <a:ext cx="5989320" cy="399389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242312"/>
            <a:ext cx="5550408" cy="2024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Вклад факторов в балл 71,4 · service-0030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571496"/>
          <a:ext cx="5660136" cy="3280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922008" y="2059432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22008" y="2059432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3176" y="2214880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Наблюдение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2455672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Данные снимка: expiresAt 14.09.2026, autoProlong = false, 2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продления из 2 со статусом not_performed.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2008" y="3431878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2008" y="3431878"/>
            <a:ext cx="41148" cy="1249002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3176" y="3587326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Интерпретация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6" y="3828118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Услуга просрочена, продление не завершено, решение о продлении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зависит от клиента.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2008" y="4804324"/>
            <a:ext cx="4611319" cy="1249002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22008" y="4804324"/>
            <a:ext cx="41148" cy="1249002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4959772"/>
            <a:ext cx="4208983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Влияние на оценку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5200564"/>
            <a:ext cx="4208983" cy="343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Три крупнейших фактора дают 3,0 + 2,5 + 2,0 = 7,5 из 10,5. Сумма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вкладов 7,5 из 10,5 — отсюда 71,4, выше порога 65.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74959" cy="307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Факторы: expiry_proximity, prolong_wait_status, auto_prolong_disabled, failed_renewals, renewal_failure_rate, insufficient_balance, suspended_status. Причинно-следственная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связь не доказана: исторических исходов оттока в снимке нет.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AI-АНАЛИТИК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Числа считает движок — AI их объясняет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Локальная модель (qwen2.5:3b-instruct через Ollama) формулирует объяснение поверх уже посчитанных фактов. Балл и суммы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модель не пересчитывает: она получает их из backend и обязана ссылаться на источники.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59432"/>
            <a:ext cx="690372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ОТВЕТ AI-АНАЛИТИКА · КЛИЕНТ #10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" y="2265172"/>
            <a:ext cx="6967728" cy="3517594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97176"/>
            <a:ext cx="6902582" cy="34535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60490"/>
            <a:ext cx="690372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Ответ ссылается на фактические данные и документы проекта: каждый источник виден под ответом.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6408" y="2297176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36408" y="2297176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2397760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Данные, а не догадки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603500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Модель отвечает только по фактам движка. Числа берутся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из backend — их нельзя выдумать.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3178860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36408" y="3178860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3279444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после генерации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485184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Если модель называет число вне фактов, оно удаляется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автоматически. Это видно прямо в интерфейсе.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6408" y="4060544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36408" y="4060544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4161128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Приватность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4366868"/>
            <a:ext cx="3331159" cy="436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Провайдер только loopback, внешние AI-API не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используются. В контекст попадают лишь данные,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доступные пользователю.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6408" y="4942228"/>
            <a:ext cx="3696919" cy="81310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36408" y="4942228"/>
            <a:ext cx="41148" cy="81310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042812"/>
            <a:ext cx="3331159" cy="16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Аналитика без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248552"/>
            <a:ext cx="3331159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Если модель недоступна, аналитика продолжает работать: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AI — слой объяснения, а не источник чисел.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Проверено живым запуском: Ollama + qwen2.5:3b-instruct на CPU, 5 эндпоинта под авторизацией, ответ grounded=true. Балл риска — индекс, а не вероятность оттока.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ДЕНЕЖНАЯ 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Риск и деньги — разные величины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= стоимость продления × балл риска / 100, и только для открытых услуг с продлением внутри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768096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6583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выручка под риском  </a:t>
            </a:r>
            <a:r>
              <a:rPr sz="1500" b="1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=  стоимость продления × балл риска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95144"/>
            <a:ext cx="3193999" cy="170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Баланс в формулу не входит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18104"/>
            <a:ext cx="3977639" cy="29352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19272"/>
            <a:ext cx="3538727" cy="359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Клиент #10 — высокий риск, но 0,00 € под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риском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858768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84A00"/>
                </a:solidFill>
                <a:latin typeface="Manrope SemiBold"/>
                <a:cs typeface="Manrope SemiBold"/>
                <a:ea typeface="Manrope SemiBold"/>
              </a:rPr>
              <a:t>71,4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37672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93120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0,00 €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72024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ПОЧЕМУ НОЛЬ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27472"/>
            <a:ext cx="3538727" cy="16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Сроки уже прошли — горизонт смотрит вперёд.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242876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БАЛАНС — НЕ ВЫРУЧКА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398324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203,79 €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777228"/>
            <a:ext cx="3538727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ВСЕГО ПОПОЛНЕНО — СПРАВОЧНО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932676"/>
            <a:ext cx="3538727" cy="23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4 206,69 €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7" y="3090672"/>
            <a:ext cx="6623000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РЕАЛЬНЫЙ ИНТЕРФЕЙС · БЛИЖАЙШИЕ ПРОДЛЕНИЯ В ГОРИЗОНТЕ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8323" y="3323844"/>
            <a:ext cx="6687008" cy="1462829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new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3355848"/>
            <a:ext cx="6255671" cy="139882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910327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3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8343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5,80 €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3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прогнозная экспозиция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4569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2585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ПРЕДСТОЯЩИЕ ПРОДЛЕНИЯ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2585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17,03 €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2585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сумма без учёта риска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811" y="4965192"/>
            <a:ext cx="2134514" cy="108813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6827" y="5093208"/>
            <a:ext cx="1878482" cy="130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ИСТОРИЧЕСКИЕ ПОПОЛНЕНИЯ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6827" y="5330952"/>
            <a:ext cx="187848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22 240,73 €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6827" y="5641848"/>
            <a:ext cx="1878482" cy="142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справочно, не суммируется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Горизонт 30 дней. Сумма по 4 продлениям: 0,36 + 0,70 + 1,81 + 2,93 = 5,80 €. Оценка не является гарантированным прогнозом потерь.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СКВОЗНОЙ СЦЕНАРИЙ · ШАГ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Меняем вес — результат пересчитывается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Гипотеза до изменения: усилим «близость даты окончания» с 3,0 до 9,0 — баллы и число услуг высокого риска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вырастут. Проверяем на реальном интерфейсе.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75688"/>
            <a:ext cx="10874959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75688"/>
            <a:ext cx="41148" cy="420624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76272"/>
            <a:ext cx="1043604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ГИПОТЕЗА ДО ИЗМЕНЕНИЯ   </a:t>
            </a:r>
            <a:r>
              <a:rPr sz="1100" b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 expiry_proximity 3,0 → 9,0 должен повысить баллы и число услуг высокого риска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ДО · ВЕС 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1295" y="2734056"/>
            <a:ext cx="5282031" cy="1510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ПОСЛЕ · ВЕС 9,0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_set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53512"/>
            <a:ext cx="5282031" cy="48650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19291" y="2921508"/>
            <a:ext cx="5346039" cy="1978550"/>
          </a:xfrm>
          <a:prstGeom prst="rect">
            <a:avLst/>
          </a:prstGeom>
          <a:solidFill>
            <a:srgbClr val="FFFFFF"/>
          </a:solidFill>
          <a:ln w="1016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_set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95" y="2953512"/>
            <a:ext cx="5282031" cy="48650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риска клиента #10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9074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Балл service-0030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71,4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81,8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9780" y="3977640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084" y="4069080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Услуг высокого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084" y="4251960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4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Выручка под риском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5,80 €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7,72 €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9074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5378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Сумма весов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5378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13.0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19.0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99780" y="4745736"/>
            <a:ext cx="353354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6084" y="4837176"/>
            <a:ext cx="3240938" cy="131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Клиентов высокого риска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6084" y="5020056"/>
            <a:ext cx="32409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Manrope Medium"/>
                <a:cs typeface="Manrope Medium"/>
                <a:ea typeface="Manrope Medium"/>
              </a:rPr>
              <a:t>3</a:t>
            </a:r>
            <a:r>
              <a:rPr sz="1500" b="0">
                <a:solidFill>
                  <a:srgbClr val="C9C9C9"/>
                </a:solidFill>
                <a:latin typeface="Manrope Medium"/>
                <a:cs typeface="Manrope Medium"/>
                <a:ea typeface="Manrope Medium"/>
              </a:rPr>
              <a:t>   →   </a:t>
            </a:r>
            <a:r>
              <a:rPr sz="1500" b="1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641848"/>
            <a:ext cx="10874959" cy="5383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Расчёт: сумма весов выросла с 13.0 до 19.0, вклад фактора — с 3.0 до 9.0, поэтому балл service-0030 стал 81,8, а услуг высокого риска — 7 вместо 4. Клиентов высокого риска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осталось 3: категория клиента — это максимум по его услугам, и усиленный вес поднял баллы средних клиентов, но не выше порога 65. Настройка сохраняется на сервере, сводка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обновляется сразу, без перезагрузки страницы; кнопка «Значения по умолчанию» возвращает исходные 3,0 и прежние числа.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РЕЗУЛЬТАТ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Команда видит, с кого начать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Четыре подтверждённые возможности продукта — и то, что мы сознательно не заявляем.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Приоритет вместо ручного просмотра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Список отсортирован по риску, фильтр по категории оставляет только тех, кто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требует внимания.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856232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856232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0751" y="2002536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Причина вместо непрозрачного числа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248154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Каждый балл разложен на факторы с числами из данных и рекомендациями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удержанию.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Деньги отдельно от риска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Выручка под риском считается по продлениям внутри горизонта; баланс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пополнения с ней не смешиваются.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990088"/>
            <a:ext cx="5300319" cy="969264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2990088"/>
            <a:ext cx="41148" cy="969264"/>
          </a:xfrm>
          <a:prstGeom prst="rect">
            <a:avLst/>
          </a:prstGeom>
          <a:solidFill>
            <a:srgbClr val="83CD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3136392"/>
            <a:ext cx="4843119" cy="1998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Проверка гипотез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0751" y="3382010"/>
            <a:ext cx="4843119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Веса, горизонт и пороги меняются из интерфейса; результат пересчитывается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сразу.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33672"/>
            <a:ext cx="10874959" cy="18196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41148" cy="1819656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98264"/>
            <a:ext cx="10399471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Чего мы не заявляем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46041"/>
            <a:ext cx="10399471" cy="3649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Балл риска — не вероятность оттока в процентах: в снимке нет исторических исходов, поэтому модель построена на правилах, а не обучена. Точность, снижение оттока 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рост выручки не измерены — мы их не обещаем. Продукт помогает анализировать и приоритизировать; удержание зависит от следующих действий команды.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17920"/>
            <a:ext cx="10874959" cy="9525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74959" cy="163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Подтверждено запуском продукта на датасете организатора: снимок импортирован, все экраны и пересчёт проверены вживую.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40">
                <a:solidFill>
                  <a:srgbClr val="B84A00"/>
                </a:solidFill>
                <a:latin typeface="Manrope"/>
                <a:cs typeface="Manrope"/>
                <a:ea typeface="Manrope"/>
              </a:rPr>
              <a:t>АРХИТЕКТУРА ДОВЕРИЯ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95528"/>
            <a:ext cx="10874959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Manrope"/>
                <a:cs typeface="Manrope"/>
                <a:ea typeface="Manrope"/>
              </a:rPr>
              <a:t>Данные → проверка → расчёт →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4416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Короткий путь данных. Никаких скрытых шагов и никакой подмены отсутствующих сигналов нулём.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Снимок Aéza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data.json: 10 аккаунтов, 30 услуг,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100 транзакций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21659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687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7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0279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Импорт с проверкой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0279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валидация целиком до записи,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применение атомарно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08978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6" y="1856232"/>
            <a:ext cx="2512999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8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Скоринг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7598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один модуль: вес × фактор, сумма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весов в знаменателе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6297" y="2340864"/>
            <a:ext cx="173736" cy="219456"/>
          </a:xfrm>
          <a:prstGeom prst="rightArrow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0325" y="1856232"/>
            <a:ext cx="2512999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5" y="1856232"/>
            <a:ext cx="2512999" cy="41148"/>
          </a:xfrm>
          <a:prstGeom prst="rect">
            <a:avLst/>
          </a:prstGeom>
          <a:solidFill>
            <a:srgbClr val="B8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4917" y="2039112"/>
            <a:ext cx="2183815" cy="185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API и интерфейс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4917" y="2270760"/>
            <a:ext cx="2183815" cy="331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FastAPI + Postgres, панель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аналитика на React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19272"/>
            <a:ext cx="5274355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483864"/>
            <a:ext cx="4835443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Как обрабатываются пропуски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3731641"/>
            <a:ext cx="4835443" cy="137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Неизвестное ≠ ноль: фактор без данных исключается из числителя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знаменателя, веса перенормируются.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Услуги deleted и blocked — состоявшееся событие, а не прогноз: балл им не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присваивается.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Цена не входит в формулу риска: price — это экспозиция, а не вероятность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ухода.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Опорный момент зафиксирован (2026-10-19 15:00 UTC), поэтому числа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воспроизводимы.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7043" y="3319272"/>
            <a:ext cx="5326284" cy="2734056"/>
          </a:xfrm>
          <a:prstGeom prst="rect">
            <a:avLst/>
          </a:prstGeom>
          <a:solidFill>
            <a:srgbClr val="FFFFFF"/>
          </a:solidFill>
          <a:ln w="1143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6499" y="3483864"/>
            <a:ext cx="4887372" cy="192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Manrope SemiBold"/>
                <a:cs typeface="Manrope SemiBold"/>
                <a:ea typeface="Manrope SemiBold"/>
              </a:rPr>
              <a:t>Ограничения, которые важно знать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6499" y="3731641"/>
            <a:ext cx="4887372" cy="1039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истории оттока — отсюда модель на правилах и отсутствие метрик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точности.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календаря будущих списаний: даты продлений выведены из expiresAt и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paymentTerm.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Нет динамики: снимок описывает один момент, график тренда не строится.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• Нагрузка не измерялась: набор кейса — 10 / 30 / 100 записей.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eza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1280160" cy="305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60704"/>
            <a:ext cx="731520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3CDB7"/>
                </a:solidFill>
                <a:latin typeface="Manrope"/>
                <a:cs typeface="Manrope"/>
                <a:ea typeface="Manrope"/>
              </a:rPr>
              <a:t>РИСК ВИДЕН · ПРИЧИНЫ ПОНЯТНЫ · ШАГ ОПРЕДЕЛЁН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758952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anrope"/>
                <a:cs typeface="Manrope"/>
                <a:ea typeface="Manrope"/>
              </a:rPr>
              <a:t>Не ждать ухода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64080"/>
            <a:ext cx="7589520" cy="729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Дать команде возможность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6B00"/>
                </a:solidFill>
                <a:latin typeface="Manrope SemiBold"/>
                <a:cs typeface="Manrope SemiBold"/>
                <a:ea typeface="Manrope SemiBold"/>
              </a:rPr>
              <a:t>действовать раньше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6448"/>
            <a:ext cx="7315200" cy="711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Предлагаем следующий шаг: вместе проверить модель на данных Aéza и определить, какие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сигналы действительно полезны команде удержания. Это предложение, а не существующая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договорённость.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224528"/>
            <a:ext cx="731520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384048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КОМАНДА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4572000" cy="266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anrope SemiBold"/>
                <a:cs typeface="Manrope SemiBold"/>
                <a:ea typeface="Manrope SemiBold"/>
              </a:rPr>
              <a:t>[НАЗВАНИЕ КОМАНДЫ]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94830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1] · [РОЛЬ УЧАСТНИКА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14661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2] · [РОЛЬ УЧАСТНИКА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44921"/>
            <a:ext cx="4937760" cy="19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C9C9"/>
                </a:solidFill>
                <a:latin typeface="Manrope"/>
                <a:cs typeface="Manrope"/>
                <a:ea typeface="Manrope"/>
              </a:rPr>
              <a:t>[ИМЯ УЧАСТНИКА 3] · [РОЛЬ УЧАСТНИКА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16383"/>
            <a:ext cx="4937760" cy="17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3CDB7"/>
                </a:solidFill>
                <a:latin typeface="Manrope Medium"/>
                <a:cs typeface="Manrope Medium"/>
                <a:ea typeface="Manrope Medium"/>
              </a:rPr>
              <a:t>[КОНТАКТ / TELEGRAM]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4447" y="1261872"/>
            <a:ext cx="2103120" cy="158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ССЫЛКИ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563624"/>
            <a:ext cx="1152144" cy="1152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47" y="1591056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4447" y="2752344"/>
            <a:ext cx="2103120" cy="137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GITHUB] · репозиторий проекта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4447" y="3310128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3007" y="44622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ДЕМО]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4447" y="48463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9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anrope SemiBold"/>
                <a:cs typeface="Manrope SemiBold"/>
                <a:ea typeface="Manrope SemiBold"/>
              </a:rPr>
              <a:t>[ВСТАВИТЬ QR]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3007" y="599846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E8E"/>
                </a:solidFill>
                <a:latin typeface="Manrope SemiBold"/>
                <a:cs typeface="Manrope SemiBold"/>
                <a:ea typeface="Manrope SemiBold"/>
              </a:rPr>
              <a:t>[QR-КОД: КОНТАКТЫ]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4447" y="6144768"/>
            <a:ext cx="2103120" cy="14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6666"/>
                </a:solidFill>
                <a:latin typeface="Manrope"/>
                <a:cs typeface="Manrope"/>
                <a:ea typeface="Manrope"/>
              </a:rPr>
              <a:t>ЗАПОЛНИТЬ ПЕРЕД ЗАЩИТОЙ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4447" y="6327648"/>
            <a:ext cx="2103120" cy="145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E8E8E"/>
                </a:solidFill>
                <a:latin typeface="Manrope"/>
                <a:cs typeface="Manrope"/>
                <a:ea typeface="Manrope"/>
              </a:rPr>
              <a:t>Вставьте реальные ссылки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Aéza Analyzer — Хакатон Осень 2026</dc:title>
  <dc:subject>Анализ риска оттока клиентов хостинг-провайдера</dc:subject>
  <dc:creator>[НАЗВАНИЕ КОМАНДЫ]</dc:creator>
  <cp:keywords/>
  <dc:description>Все числа и скриншоты получены из запущенного Aéza Analyzer на датасете организатора, опорный момент 2026-10-19 15:00 UTC.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